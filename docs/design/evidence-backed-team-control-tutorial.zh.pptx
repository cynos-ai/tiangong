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572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4572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1430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11430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11430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18288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1828800"/>
            <a:ext cx="45720" cy="45720"/>
          </a:xfrm>
          <a:prstGeom prst="ellipse">
            <a:avLst/>
          </a:prstGeom>
          <a:solidFill>
            <a:srgbClr val="00B39F">
              <a:alpha val="65000"/>
            </a:srgbClr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658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2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/  DESIGN TUTORIAL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261872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可信团队控制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68096" y="19933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C6D7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从一条需求走到安全交付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68096" y="272491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340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案例：商城取消订单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34015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把语义判断、机器能力、工具观察和外部效果分开，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让系统既能协作，也能安全收口。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42632" y="3803904"/>
            <a:ext cx="777240" cy="0"/>
          </a:xfrm>
          <a:prstGeom prst="line">
            <a:avLst/>
          </a:prstGeom>
          <a:noFill/>
          <a:ln w="25400">
            <a:solidFill>
              <a:srgbClr val="6E8B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03720" y="3364992"/>
            <a:ext cx="877824" cy="877824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5112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3708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64515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提出需求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68512" y="3803904"/>
            <a:ext cx="777240" cy="0"/>
          </a:xfrm>
          <a:prstGeom prst="line">
            <a:avLst/>
          </a:prstGeom>
          <a:noFill/>
          <a:ln w="25400">
            <a:solidFill>
              <a:srgbClr val="6E8B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3364992"/>
            <a:ext cx="877824" cy="877824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112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43708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0" y="464515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稳定身份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994392" y="3803904"/>
            <a:ext cx="777240" cy="0"/>
          </a:xfrm>
          <a:prstGeom prst="line">
            <a:avLst/>
          </a:prstGeom>
          <a:noFill/>
          <a:ln w="25400">
            <a:solidFill>
              <a:srgbClr val="6E8BA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55480" y="3364992"/>
            <a:ext cx="877824" cy="877824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35112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0" y="43708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72600" y="464515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有界委托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881360" y="3364992"/>
            <a:ext cx="877824" cy="87782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81360" y="35112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44200" y="43708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98480" y="464515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安全收口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65392" y="5340096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13263D"/>
          </a:solidFill>
          <a:ln w="12700">
            <a:solidFill>
              <a:srgbClr val="2942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546811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F6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不是“让模型自己保证安全”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DF6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而是把关键边界落进代码。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先记住这一条因果链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每个对象都回答一个不同的问题：谁提出、要做什么、谁来做、发生了什么。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5728" y="2999232"/>
            <a:ext cx="128016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706624"/>
            <a:ext cx="347472" cy="347472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6736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谁提出？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33672" y="2999232"/>
            <a:ext cx="128016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51176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15768" y="2706624"/>
            <a:ext cx="347472" cy="347472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1576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哪件事？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71616" y="2999232"/>
            <a:ext cx="128016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2706624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92624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53712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目标是什么？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09560" y="2999232"/>
            <a:ext cx="128016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27064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91656" y="2706624"/>
            <a:ext cx="347472" cy="34747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30568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91656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委托什么？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747504" y="2999232"/>
            <a:ext cx="128016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65008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0" y="2706624"/>
            <a:ext cx="347472" cy="347472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68512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/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交接与外部效果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02952" y="2523744"/>
            <a:ext cx="166420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067544" y="2706624"/>
            <a:ext cx="347472" cy="347472"/>
          </a:xfrm>
          <a:prstGeom prst="ellipse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67544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06456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CloseGuard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067544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能否收口？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808" y="4224528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E8F4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4425696"/>
            <a:ext cx="384048" cy="246888"/>
          </a:xfrm>
          <a:prstGeom prst="roundRect">
            <a:avLst>
              <a:gd name="adj" fmla="val 29630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44348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35608" y="437997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语义由 Leader 处理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35608" y="4690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目标、取舍、是否完成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17136" y="4224528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E7F7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4425696"/>
            <a:ext cx="384048" cy="246888"/>
          </a:xfrm>
          <a:prstGeom prst="roundRect">
            <a:avLst>
              <a:gd name="adj" fmla="val 29630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4348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02936" y="437997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权限由代码约束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202936" y="4690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身份、能力、并发、路径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84464" y="4224528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5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49056" y="4425696"/>
            <a:ext cx="384048" cy="246888"/>
          </a:xfrm>
          <a:prstGeom prst="roundRect">
            <a:avLst>
              <a:gd name="adj" fmla="val 2963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22208" y="44348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970264" y="437997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外部效果由 Adapter 记录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970264" y="4690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Operation、Approval、恢复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一个需求，六个参与者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同一件事里，语义判断、执行、批准和恢复不是同一个角色。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13263D"/>
          </a:solidFill>
          <a:ln w="12700">
            <a:solidFill>
              <a:srgbClr val="2843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121408"/>
            <a:ext cx="1417320" cy="283464"/>
          </a:xfrm>
          <a:prstGeom prst="roundRect">
            <a:avLst>
              <a:gd name="adj" fmla="val 25806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130552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陈晨的原始请求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4279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给商城增加取消订单功能。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只有未发货、尚未开始拣货的订单可以取消；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取消后恢复预占库存并记录原因；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不要改变现有下单接口。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先在测试环境验证，部署生产前让我确认。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68172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一句业务话，后面会展开成 Work、Task、Result、Operation。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947672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2103120"/>
            <a:ext cx="365760" cy="36576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075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93408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6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· 业务事实与精确批准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2880360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3035808"/>
            <a:ext cx="365760" cy="36576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00837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32644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6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Leader · 语义协调与关闭判断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3813048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7064" y="3968496"/>
            <a:ext cx="365760" cy="365760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39410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93408" y="419709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6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 · 调查与实现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1947672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61704" y="2103120"/>
            <a:ext cx="365760" cy="36576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2075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乔安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28048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6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 · 按风险 review / 测试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2880360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13263D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61704" y="3035808"/>
            <a:ext cx="365760" cy="36576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28048" y="300837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28048" y="32644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6C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Operator · 未知状态恢复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915400" y="3813048"/>
            <a:ext cx="2542032" cy="713232"/>
          </a:xfrm>
          <a:prstGeom prst="roundRect">
            <a:avLst>
              <a:gd name="adj" fmla="val 10256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61704" y="396849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39410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Kernel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28048" y="419709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· 硬控边界与并发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4974336"/>
            <a:ext cx="5376672" cy="512064"/>
          </a:xfrm>
          <a:prstGeom prst="roundRect">
            <a:avLst>
              <a:gd name="adj" fmla="val 14286"/>
            </a:avLst>
          </a:prstGeom>
          <a:solidFill>
            <a:srgbClr val="1B3149"/>
          </a:solidFill>
          <a:ln w="12700">
            <a:solidFill>
              <a:srgbClr val="3550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511149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F6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核心原则：流程可选，安全边界不可选。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平台身份 ≠ 专业授权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AgentTeams 证明资源存在；Tiangong 决定当前工作能做什么。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56232"/>
            <a:ext cx="3703320" cy="3364992"/>
          </a:xfrm>
          <a:prstGeom prst="roundRect">
            <a:avLst>
              <a:gd name="adj" fmla="val 2174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139696"/>
            <a:ext cx="3218688" cy="310896"/>
          </a:xfrm>
          <a:prstGeom prst="roundRect">
            <a:avLst>
              <a:gd name="adj" fmla="val 23529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15798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AgentTeams · 平台与集成层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820924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61488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Team / Worker / 容器真实存在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3214116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154680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平台身份、消息路由与投递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607308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54787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共享存储与资源生命周期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370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证明“平台资源现在存在”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36008" y="1856232"/>
            <a:ext cx="3703320" cy="3364992"/>
          </a:xfrm>
          <a:prstGeom prst="roundRect">
            <a:avLst>
              <a:gd name="adj" fmla="val 2174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3752" y="2139696"/>
            <a:ext cx="3218688" cy="310896"/>
          </a:xfrm>
          <a:prstGeom prst="roundRect">
            <a:avLst>
              <a:gd name="adj" fmla="val 23529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15798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· 专业控制层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28616" y="2820924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2761488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 / Task / Result 的责任链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28616" y="3214116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3154680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能力、网络、路径、并发边界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28616" y="3607308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354787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Operation、Approval 与恢复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28616" y="4370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决定“当前专业工作能做什么”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62272" y="3529584"/>
            <a:ext cx="109728" cy="0"/>
          </a:xfrm>
          <a:prstGeom prst="line">
            <a:avLst/>
          </a:prstGeom>
          <a:noFill/>
          <a:ln w="25400">
            <a:solidFill>
              <a:srgbClr val="0B16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67928" y="1856232"/>
            <a:ext cx="2880360" cy="3364992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42248" y="2231136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2194560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不要混淆三件事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51392" y="279806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一次生成输出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94392" y="27980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39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39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持续承担职责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51392" y="371246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B5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3B5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程序运行位置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51392" y="4681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权限不来自模型说了什么。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先给整件事一个稳定身份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聊天房间解决投递；Work 才解决业务事务的持续跟踪。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1874520"/>
            <a:ext cx="2999232" cy="340156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176272"/>
            <a:ext cx="164592" cy="164592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3969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只有聊天历史，会发生什么？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2820924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76148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补充规则混入另一件事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241548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1821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消息重放造成重复处理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662172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6027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模型反复猜“这句话属于谁”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" y="4352544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262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房间 ID ≠ 事务身份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3547872"/>
            <a:ext cx="694944" cy="0"/>
          </a:xfrm>
          <a:prstGeom prst="line">
            <a:avLst/>
          </a:prstGeom>
          <a:noFill/>
          <a:ln w="2540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18888" y="2359152"/>
            <a:ext cx="1975104" cy="2304288"/>
          </a:xfrm>
          <a:prstGeom prst="roundRect">
            <a:avLst>
              <a:gd name="adj" fmla="val 3704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2670048"/>
            <a:ext cx="713232" cy="713232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834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0" y="3547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74920" y="39136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稳定身份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当前投影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时间线入口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76288" y="3547872"/>
            <a:ext cx="621792" cy="0"/>
          </a:xfrm>
          <a:prstGeom prst="line">
            <a:avLst/>
          </a:prstGeom>
          <a:noFill/>
          <a:ln w="2540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07808" y="2057400"/>
            <a:ext cx="3803904" cy="2423160"/>
          </a:xfrm>
          <a:prstGeom prst="roundRect">
            <a:avLst>
              <a:gd name="adj" fmla="val 3019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185416"/>
            <a:ext cx="347472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"workId": "work-order-cancel-001",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"epoch": 1,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"workSpec": null,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"timeline": [message-9001]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07808" y="4700016"/>
            <a:ext cx="3803904" cy="566928"/>
          </a:xfrm>
          <a:prstGeom prst="roundRect">
            <a:avLst>
              <a:gd name="adj" fmla="val 12903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480974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`workSpec: null` 是诚实状态：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先承认这件事存在，再澄清目标。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澄清目标，但不授予权限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 是 Leader 的当前目标卡，不是机器权限表。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6601968" cy="3639312"/>
          </a:xfrm>
          <a:prstGeom prst="roundRect">
            <a:avLst>
              <a:gd name="adj" fmla="val 2010"/>
            </a:avLst>
          </a:prstGeom>
          <a:solidFill>
            <a:srgbClr val="13263D"/>
          </a:solidFill>
          <a:ln w="12700">
            <a:solidFill>
              <a:srgbClr val="2843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139696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WORKSPEC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7552" y="2679192"/>
            <a:ext cx="2724912" cy="594360"/>
          </a:xfrm>
          <a:prstGeom prst="roundRect">
            <a:avLst>
              <a:gd name="adj" fmla="val 12308"/>
            </a:avLst>
          </a:prstGeom>
          <a:solidFill>
            <a:srgbClr val="1A304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77977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39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2999232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1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最终想改变什么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7552" y="3474720"/>
            <a:ext cx="2724912" cy="594360"/>
          </a:xfrm>
          <a:prstGeom prst="roundRect">
            <a:avLst>
              <a:gd name="adj" fmla="val 12308"/>
            </a:avLst>
          </a:prstGeom>
          <a:solidFill>
            <a:srgbClr val="1A304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57530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B5E6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3794760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1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明确覆盖哪里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7552" y="4270248"/>
            <a:ext cx="2724912" cy="594360"/>
          </a:xfrm>
          <a:prstGeom prst="roundRect">
            <a:avLst>
              <a:gd name="adj" fmla="val 12308"/>
            </a:avLst>
          </a:prstGeom>
          <a:solidFill>
            <a:srgbClr val="1A304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37083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B63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" y="4590288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1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无论怎样都不能违反什么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59936" y="2679192"/>
            <a:ext cx="2724912" cy="594360"/>
          </a:xfrm>
          <a:prstGeom prst="roundRect">
            <a:avLst>
              <a:gd name="adj" fmla="val 12308"/>
            </a:avLst>
          </a:prstGeom>
          <a:solidFill>
            <a:srgbClr val="1A304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277977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doneWhen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97096" y="2999232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1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Leader 判断完成时考虑什么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59936" y="3474720"/>
            <a:ext cx="2724912" cy="594360"/>
          </a:xfrm>
          <a:prstGeom prst="roundRect">
            <a:avLst>
              <a:gd name="adj" fmla="val 12308"/>
            </a:avLst>
          </a:prstGeom>
          <a:solidFill>
            <a:srgbClr val="FDEBEC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97096" y="357530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B5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unresolvedAssumptions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97096" y="3794760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1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依赖但尚未确认的前提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1874520"/>
            <a:ext cx="3767328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2249424"/>
            <a:ext cx="164592" cy="164592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21284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语义目标 ≠ 机器能力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82712" y="277063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 写：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“需要读取生产数据确认历史订单。”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46336" y="3566160"/>
            <a:ext cx="0" cy="256032"/>
          </a:xfrm>
          <a:prstGeom prst="line">
            <a:avLst/>
          </a:prstGeom>
          <a:noFill/>
          <a:ln w="25400">
            <a:solidFill>
              <a:srgbClr val="E85B5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10144" y="3913632"/>
            <a:ext cx="3090672" cy="841248"/>
          </a:xfrm>
          <a:prstGeom prst="roundRect">
            <a:avLst>
              <a:gd name="adj" fmla="val 8696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41148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不会自动获得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生产凭据 / 网络 / Adapter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91856" y="5001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不知道就保留未知；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没有安全默认就等待 Human。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只派发一次有界委托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计划可以存在；正式 Task 等输入和责任边界真实可用时再创建。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139696"/>
            <a:ext cx="4059936" cy="310896"/>
          </a:xfrm>
          <a:prstGeom prst="roundRect">
            <a:avLst>
              <a:gd name="adj" fmla="val 23529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不要把暂时计划膨胀成固定 DAG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79806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7121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84832" y="3008376"/>
            <a:ext cx="164592" cy="0"/>
          </a:xfrm>
          <a:prstGeom prst="line">
            <a:avLst/>
          </a:prstGeom>
          <a:noFill/>
          <a:ln w="16510">
            <a:solidFill>
              <a:srgbClr val="E85B5B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13432" y="279806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287121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00984" y="3008376"/>
            <a:ext cx="164592" cy="0"/>
          </a:xfrm>
          <a:prstGeom prst="line">
            <a:avLst/>
          </a:prstGeom>
          <a:noFill/>
          <a:ln w="16510">
            <a:solidFill>
              <a:srgbClr val="E85B5B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29584" y="2798064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287121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566160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63931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84832" y="3776472"/>
            <a:ext cx="164592" cy="0"/>
          </a:xfrm>
          <a:prstGeom prst="line">
            <a:avLst/>
          </a:prstGeom>
          <a:noFill/>
          <a:ln w="16510">
            <a:solidFill>
              <a:srgbClr val="E85B5B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13432" y="3566160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63931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00984" y="3776472"/>
            <a:ext cx="164592" cy="0"/>
          </a:xfrm>
          <a:prstGeom prst="line">
            <a:avLst/>
          </a:prstGeom>
          <a:noFill/>
          <a:ln w="16510">
            <a:solidFill>
              <a:srgbClr val="E85B5B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529584" y="3566160"/>
            <a:ext cx="96926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4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363931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4480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依赖尚未知道，阶段也不适合所有 Work。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50992" y="1874520"/>
            <a:ext cx="5797296" cy="3337560"/>
          </a:xfrm>
          <a:prstGeom prst="roundRect">
            <a:avLst>
              <a:gd name="adj" fmla="val 2192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07024" y="2139696"/>
            <a:ext cx="5285232" cy="310896"/>
          </a:xfrm>
          <a:prstGeom prst="roundRect">
            <a:avLst>
              <a:gd name="adj" fmla="val 23529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157984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按当前输入动态展开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22592" y="3310128"/>
            <a:ext cx="219456" cy="0"/>
          </a:xfrm>
          <a:prstGeom prst="line">
            <a:avLst/>
          </a:prstGeom>
          <a:noFill/>
          <a:ln w="2286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91072" y="2926080"/>
            <a:ext cx="566928" cy="566928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30815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36576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调查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943600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接口事实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3310128"/>
            <a:ext cx="219456" cy="0"/>
          </a:xfrm>
          <a:prstGeom prst="line">
            <a:avLst/>
          </a:prstGeom>
          <a:noFill/>
          <a:ln w="2286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89520" y="2926080"/>
            <a:ext cx="566928" cy="56692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30815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33488" y="36576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242048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 commit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619488" y="3310128"/>
            <a:ext cx="219456" cy="0"/>
          </a:xfrm>
          <a:prstGeom prst="line">
            <a:avLst/>
          </a:prstGeom>
          <a:noFill/>
          <a:ln w="2286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887968" y="2926080"/>
            <a:ext cx="566928" cy="5669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87968" y="30815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31936" y="36576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按风险选择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540496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/ 测试 / 发布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186416" y="2926080"/>
            <a:ext cx="566928" cy="566928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86416" y="30815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930384" y="36576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838944" y="3913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/ Operation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4498848"/>
            <a:ext cx="5138928" cy="566928"/>
          </a:xfrm>
          <a:prstGeom prst="roundRect">
            <a:avLst>
              <a:gd name="adj" fmla="val 12903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3912" y="462686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TaskSpec = objective + inputs + constraints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创建后不可变；实质变化 = 取消旧 Task + 创建新 Task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实际能力来自四项交集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每个新 turn、local tool call 和 Adapter call 都重新检查当前状态。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084832"/>
            <a:ext cx="2487168" cy="1024128"/>
          </a:xfrm>
          <a:prstGeom prst="roundRect">
            <a:avLst>
              <a:gd name="adj" fmla="val 7143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2395728"/>
            <a:ext cx="365760" cy="36576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2951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AgentTeams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identity + route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3785616"/>
            <a:ext cx="2487168" cy="1024128"/>
          </a:xfrm>
          <a:prstGeom prst="roundRect">
            <a:avLst>
              <a:gd name="adj" fmla="val 7143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4096512"/>
            <a:ext cx="365760" cy="36576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ControlProfile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企业上限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2084832"/>
            <a:ext cx="2487168" cy="1024128"/>
          </a:xfrm>
          <a:prstGeom prst="roundRect">
            <a:avLst>
              <a:gd name="adj" fmla="val 7143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2776" y="2395728"/>
            <a:ext cx="365760" cy="365760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2951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MemberConfig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成员实际能力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03320" y="3785616"/>
            <a:ext cx="2487168" cy="1024128"/>
          </a:xfrm>
          <a:prstGeom prst="roundRect">
            <a:avLst>
              <a:gd name="adj" fmla="val 7143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2776" y="4096512"/>
            <a:ext cx="365760" cy="36576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binding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 / Task / root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2596896"/>
            <a:ext cx="2148840" cy="475488"/>
          </a:xfrm>
          <a:prstGeom prst="line">
            <a:avLst/>
          </a:prstGeom>
          <a:noFill/>
          <a:ln w="2032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83280" y="4297680"/>
            <a:ext cx="2148840" cy="-621792"/>
          </a:xfrm>
          <a:prstGeom prst="line">
            <a:avLst/>
          </a:prstGeom>
          <a:noFill/>
          <a:ln w="2032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90488" y="2596896"/>
            <a:ext cx="0" cy="466344"/>
          </a:xfrm>
          <a:prstGeom prst="line">
            <a:avLst/>
          </a:prstGeom>
          <a:noFill/>
          <a:ln w="2032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0488" y="4297680"/>
            <a:ext cx="0" cy="-484632"/>
          </a:xfrm>
          <a:prstGeom prst="line">
            <a:avLst/>
          </a:prstGeom>
          <a:noFill/>
          <a:ln w="2032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32120" y="2990088"/>
            <a:ext cx="1298448" cy="1298448"/>
          </a:xfrm>
          <a:prstGeom prst="ellipse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42900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32120" y="37398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实际允许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2084832"/>
            <a:ext cx="3767328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18704" y="2432304"/>
            <a:ext cx="164592" cy="164592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4736" y="239572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不能授予能力的输入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55280" y="3003804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2944368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 / TaskSpec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55280" y="3387852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32841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消息与聊天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3771900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712464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/ RAG 检索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955280" y="4155948"/>
            <a:ext cx="91440" cy="91440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4096512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ToolResult / MCP 输出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918704" y="4443984"/>
            <a:ext cx="3154680" cy="365760"/>
          </a:xfrm>
          <a:prstGeom prst="roundRect">
            <a:avLst>
              <a:gd name="adj" fmla="val 20000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4535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自然语言可以描述意图，不能扩大权限。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472184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Bash 好用，控制域仍不可读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把安全边界放在 OS、mount、credential、network 和完整进程树，而不是 shell 文本解析。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4864608" cy="3511296"/>
          </a:xfrm>
          <a:prstGeom prst="roundRect">
            <a:avLst>
              <a:gd name="adj" fmla="val 2083"/>
            </a:avLst>
          </a:prstGeom>
          <a:solidFill>
            <a:srgbClr val="162B43"/>
          </a:solidFill>
          <a:ln w="12700">
            <a:solidFill>
              <a:srgbClr val="2F4A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121408"/>
            <a:ext cx="4352544" cy="310896"/>
          </a:xfrm>
          <a:prstGeom prst="roundRect">
            <a:avLst>
              <a:gd name="adj" fmla="val 23529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39696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 control runtime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761488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213A55"/>
          </a:solidFill>
          <a:ln w="12700">
            <a:solidFill>
              <a:srgbClr val="3A5A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8346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 / 路由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3255264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213A55"/>
          </a:solidFill>
          <a:ln w="12700">
            <a:solidFill>
              <a:srgbClr val="3A5A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3284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provider / session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3749040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213A55"/>
          </a:solidFill>
          <a:ln w="12700">
            <a:solidFill>
              <a:srgbClr val="3A5A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 / pending Operation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" y="4242816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213A55"/>
          </a:solidFill>
          <a:ln w="12700">
            <a:solidFill>
              <a:srgbClr val="3A5A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3159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CoordinationStore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25312" y="1847088"/>
            <a:ext cx="5468112" cy="3511296"/>
          </a:xfrm>
          <a:prstGeom prst="roundRect">
            <a:avLst>
              <a:gd name="adj" fmla="val 2083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2121408"/>
            <a:ext cx="4956048" cy="310896"/>
          </a:xfrm>
          <a:prstGeom prst="roundRect">
            <a:avLst>
              <a:gd name="adj" fmla="val 23529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139696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prepared execution environment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2761488"/>
            <a:ext cx="47914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2852928"/>
            <a:ext cx="128016" cy="128016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283464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Bash / Git / 编译 / 测试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54496" y="3255264"/>
            <a:ext cx="47914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7376" y="3346704"/>
            <a:ext cx="128016" cy="128016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3328416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 checkout + 独立 writable root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54496" y="3749040"/>
            <a:ext cx="47914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7376" y="3840480"/>
            <a:ext cx="128016" cy="128016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3822192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受限网络与清洁环境变量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54496" y="4242816"/>
            <a:ext cx="47914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4334256"/>
            <a:ext cx="128016" cy="128016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431596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整棵进程树可取消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62272" y="4681728"/>
            <a:ext cx="3127248" cy="457200"/>
          </a:xfrm>
          <a:prstGeom prst="roundRect">
            <a:avLst>
              <a:gd name="adj" fmla="val 16000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77316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Credential-free boundary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443984" y="3675888"/>
            <a:ext cx="-457200" cy="0"/>
          </a:xfrm>
          <a:prstGeom prst="line">
            <a:avLst/>
          </a:prstGeom>
          <a:noFill/>
          <a:ln w="25400">
            <a:solidFill>
              <a:srgbClr val="E85B5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589520" y="3675888"/>
            <a:ext cx="457200" cy="0"/>
          </a:xfrm>
          <a:prstGeom prst="line">
            <a:avLst/>
          </a:prstGeom>
          <a:noFill/>
          <a:ln w="25400">
            <a:solidFill>
              <a:srgbClr val="00B39F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169664" y="5358384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F6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控制凭据 / 生产凭据 / 宿主端点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DF6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永不进入 Agent 进程树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16152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HANDOFF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交接不是一句“做完了”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稳定内容、成员报告和机器观察各自回答不同问题。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127248" cy="2468880"/>
          </a:xfrm>
          <a:prstGeom prst="roundRect">
            <a:avLst>
              <a:gd name="adj" fmla="val 2963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774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8658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CONTENTREF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29443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service-a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33101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3B5E6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@ def456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3886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回答：是哪份代码？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不回答：代码是否正确？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52544" y="187452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148840"/>
            <a:ext cx="768096" cy="256032"/>
          </a:xfrm>
          <a:prstGeom prst="roundRect">
            <a:avLst>
              <a:gd name="adj" fmla="val 28571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1579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5152" y="26700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的唯一终态报告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45152" y="3182112"/>
            <a:ext cx="2880360" cy="1152144"/>
          </a:xfrm>
          <a:prstGeom prst="roundRect">
            <a:avLst>
              <a:gd name="adj" fmla="val 6349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310128"/>
            <a:ext cx="2551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taskId: implement-cancel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summary: 做到什么 / 没做到什么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deliverableRefs: [def456]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toolResultRefs: [test-21]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5152" y="44897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回答：成员怎样交接？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02752" y="2103120"/>
            <a:ext cx="3127248" cy="2468880"/>
          </a:xfrm>
          <a:prstGeom prst="roundRect">
            <a:avLst>
              <a:gd name="adj" fmla="val 2963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23774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238658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TOOLRESULT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29443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npm test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95360" y="340156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B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exitCode = 0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3B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128 tests passed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41148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回答：受控工具观察到什么？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084064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248656"/>
            <a:ext cx="10131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是声明  ·  ToolResult 是观察  ·  Operation event 才是外部写入进展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472184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本地改动与外部写入是两条路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sandbox 可失败可丢弃；共享系统和生产环境必须经过 Adapter。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626864" cy="3401568"/>
          </a:xfrm>
          <a:prstGeom prst="roundRect">
            <a:avLst>
              <a:gd name="adj" fmla="val 2151"/>
            </a:avLst>
          </a:prstGeom>
          <a:solidFill>
            <a:srgbClr val="162B43"/>
          </a:solidFill>
          <a:ln w="12700">
            <a:solidFill>
              <a:srgbClr val="2F4A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176272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945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prepared environment · local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4128" y="2894076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834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/ build /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4128" y="3369564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101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/ 本地服务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3845052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856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4128" y="4320540"/>
            <a:ext cx="91440" cy="9144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26110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失败影响局限于 writable root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4718304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213A55"/>
          </a:solidFill>
          <a:ln w="12700">
            <a:solidFill>
              <a:srgbClr val="3A5A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818888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不持有 push / deploy / DB credential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901952"/>
            <a:ext cx="4864608" cy="3401568"/>
          </a:xfrm>
          <a:prstGeom prst="roundRect">
            <a:avLst>
              <a:gd name="adj" fmla="val 2151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2176272"/>
            <a:ext cx="4352544" cy="310896"/>
          </a:xfrm>
          <a:prstGeom prst="roundRect">
            <a:avLst>
              <a:gd name="adj" fmla="val 23529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194560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Adapter · external effect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94576" y="2894076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2834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push / merge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94576" y="3369564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33101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发布包 / 部署环境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94576" y="3845052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37856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 / 通知 / 工单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94576" y="4320540"/>
            <a:ext cx="91440" cy="91440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426110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共享状态持续可见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76288" y="4718304"/>
            <a:ext cx="40965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4818888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B162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typed request → preview → Operation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41264" y="3529584"/>
            <a:ext cx="822960" cy="0"/>
          </a:xfrm>
          <a:prstGeom prst="line">
            <a:avLst/>
          </a:prstGeom>
          <a:noFill/>
          <a:ln w="27940">
            <a:solidFill>
              <a:srgbClr val="F3B63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248656" y="3127248"/>
            <a:ext cx="1627632" cy="274320"/>
          </a:xfrm>
          <a:prstGeom prst="roundRect">
            <a:avLst>
              <a:gd name="adj" fmla="val 26667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31363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 BOUNDARY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48656" y="415137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6D4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不是所有网络调用都是 Operation；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6D4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关键在于它是否改变外部状态。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APPROVAL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 批准的必须是精确 Operation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“可以上线”只是沟通；认证 Approval action 才能授权一项不可变外部写入。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2029968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04288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1343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普通聊天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“可以上线。”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 target / commit / 当前版本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不能直接授权。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240280"/>
            <a:ext cx="-2313432" cy="1417320"/>
          </a:xfrm>
          <a:prstGeom prst="line">
            <a:avLst/>
          </a:prstGeom>
          <a:noFill/>
          <a:ln w="38100">
            <a:solidFill>
              <a:srgbClr val="E85B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96512" y="1874520"/>
            <a:ext cx="37673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139696"/>
            <a:ext cx="1207008" cy="256032"/>
          </a:xfrm>
          <a:prstGeom prst="roundRect">
            <a:avLst>
              <a:gd name="adj" fmla="val 28571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21488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EXACT PREVIEW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7408" y="269748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target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32120" y="269748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production-a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07408" y="31363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commit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32120" y="313639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service-a@fed789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07408" y="357530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expected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35753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release-41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07408" y="401421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operationId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40142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op-production-202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07408" y="4498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Preview 必须由 typed request 生成，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不能由模型临时写“好听摘要”。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94192" y="1874520"/>
            <a:ext cx="3054096" cy="3246120"/>
          </a:xfrm>
          <a:prstGeom prst="roundRect">
            <a:avLst>
              <a:gd name="adj" fmla="val 2395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8512" y="2212848"/>
            <a:ext cx="164592" cy="164592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4544" y="21762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一项批准的生命周期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705088" y="2779776"/>
            <a:ext cx="201168" cy="20116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27432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pending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805672" y="2999232"/>
            <a:ext cx="0" cy="201168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5088" y="3255264"/>
            <a:ext cx="201168" cy="201168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0848" y="3218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authenticated approval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805672" y="3474720"/>
            <a:ext cx="0" cy="201168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05088" y="3730752"/>
            <a:ext cx="201168" cy="201168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36941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recheck current policy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805672" y="3950208"/>
            <a:ext cx="0" cy="201168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05088" y="4206240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0848" y="416966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 / recover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68512" y="468172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Approval 只允许尝试，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5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不证明部署成功。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timeout 后不猜、不盲重试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外部效果可能已经发生；未知状态必须先对账，不能靠声明把未知变成失败或成功。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48256"/>
            <a:ext cx="33741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Gate checks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 append operation-execution-started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 call Adapter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F6F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 observe postcondition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35424" y="2633472"/>
            <a:ext cx="566928" cy="0"/>
          </a:xfrm>
          <a:prstGeom prst="line">
            <a:avLst/>
          </a:prstGeom>
          <a:noFill/>
          <a:ln w="31750">
            <a:solidFill>
              <a:srgbClr val="F3B6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93792" y="2057400"/>
            <a:ext cx="1408176" cy="1170432"/>
          </a:xfrm>
          <a:prstGeom prst="roundRect">
            <a:avLst>
              <a:gd name="adj" fmla="val 625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43230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timeout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93792" y="274320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状态未知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2633472"/>
            <a:ext cx="512064" cy="0"/>
          </a:xfrm>
          <a:prstGeom prst="line">
            <a:avLst/>
          </a:prstGeom>
          <a:noFill/>
          <a:ln w="31750">
            <a:solidFill>
              <a:srgbClr val="F3B6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6912" y="1920240"/>
            <a:ext cx="4133088" cy="1444752"/>
          </a:xfrm>
          <a:prstGeom prst="roundRect">
            <a:avLst>
              <a:gd name="adj" fmla="val 5063"/>
            </a:avLst>
          </a:prstGeom>
          <a:solidFill>
            <a:srgbClr val="162B43"/>
          </a:solidFill>
          <a:ln w="12700">
            <a:solidFill>
              <a:srgbClr val="2F4A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2231136"/>
            <a:ext cx="164592" cy="164592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7264" y="2194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reconciliation · 特权只读对账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71232" y="27432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8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确认目标状态 / 未应用 / 部分效果 / 仍未知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39136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62B43"/>
          </a:solidFill>
          <a:ln w="12700">
            <a:solidFill>
              <a:srgbClr val="3450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096512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B5E6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not-executed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44348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5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执行未开始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71800" y="39136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62B43"/>
          </a:solidFill>
          <a:ln w="12700">
            <a:solidFill>
              <a:srgbClr val="3450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1528" y="4096512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39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succeeded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81528" y="44348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5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后置状态已确认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93792" y="39136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214638"/>
          </a:solidFill>
          <a:ln w="12700">
            <a:solidFill>
              <a:srgbClr val="3450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4096512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F7F4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safe-failure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0" y="44348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5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无遗留持久效果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15784" y="39136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62B43"/>
          </a:solidFill>
          <a:ln w="12700">
            <a:solidFill>
              <a:srgbClr val="3450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512" y="4096512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B63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uncertain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25512" y="44348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5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仍无法确认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37776" y="39136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62B43"/>
          </a:solidFill>
          <a:ln w="12700">
            <a:solidFill>
              <a:srgbClr val="3450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47504" y="4096512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5B5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recovery-needed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47504" y="4434840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5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 / 错误效果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" y="5340096"/>
            <a:ext cx="10716768" cy="493776"/>
          </a:xfrm>
          <a:prstGeom prst="roundRect">
            <a:avLst>
              <a:gd name="adj" fmla="val 14815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47725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started 之后：不能盲目重放；retry / rollback 通常都是新的 Operation。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728216" cy="274320"/>
          </a:xfrm>
          <a:prstGeom prst="roundRect">
            <a:avLst>
              <a:gd name="adj" fmla="val 26667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CONCURRENCY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不同竞态，用不同机制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不要用一个万能 idempotency key 或一个 status 字段解决所有重复。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2542032" cy="1499616"/>
          </a:xfrm>
          <a:prstGeom prst="roundRect">
            <a:avLst>
              <a:gd name="adj" fmla="val 4878"/>
            </a:avLst>
          </a:prstGeom>
          <a:solidFill>
            <a:srgbClr val="E8F4FB"/>
          </a:solidFill>
          <a:ln w="12700">
            <a:solidFill>
              <a:srgbClr val="E8F4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58568"/>
            <a:ext cx="347472" cy="347472"/>
          </a:xfrm>
          <a:prstGeom prst="ellipse">
            <a:avLst/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00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89888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platformMessageId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7706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入口消息重放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同一事件 → 同一 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93592" y="1993392"/>
            <a:ext cx="2542032" cy="1499616"/>
          </a:xfrm>
          <a:prstGeom prst="roundRect">
            <a:avLst>
              <a:gd name="adj" fmla="val 4878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6472" y="2258568"/>
            <a:ext cx="347472" cy="347472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3500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requestId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76472" y="27706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协调命令重放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76472" y="3054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返回第一次的结果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55664" y="1993392"/>
            <a:ext cx="2542032" cy="1499616"/>
          </a:xfrm>
          <a:prstGeom prst="roundRect">
            <a:avLst>
              <a:gd name="adj" fmla="val 4878"/>
            </a:avLst>
          </a:prstGeom>
          <a:solidFill>
            <a:srgbClr val="FFF5DD"/>
          </a:solidFill>
          <a:ln w="12700">
            <a:solidFill>
              <a:srgbClr val="FFF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38544" y="2258568"/>
            <a:ext cx="347472" cy="34747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23500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4032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Work epoch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38544" y="27706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陈旧协调判断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38544" y="3054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 epoch 写入被拒绝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17736" y="1993392"/>
            <a:ext cx="2542032" cy="1499616"/>
          </a:xfrm>
          <a:prstGeom prst="roundRect">
            <a:avLst>
              <a:gd name="adj" fmla="val 4878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0616" y="2258568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0616" y="23500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76104" y="22128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operationId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00616" y="27706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外部写入身份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500616" y="3054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同一提议 → 同一 Operation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3968496"/>
            <a:ext cx="5212080" cy="1316736"/>
          </a:xfrm>
          <a:prstGeom prst="roundRect">
            <a:avLst>
              <a:gd name="adj" fmla="val 5556"/>
            </a:avLst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" y="4297680"/>
            <a:ext cx="164592" cy="164592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4261104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内仍必须单活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24128" y="467258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9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Task = 一个 active execution owner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DE9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 Task 必须分 session + writable root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72784" y="3968496"/>
            <a:ext cx="5175504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65392" y="4297680"/>
            <a:ext cx="164592" cy="164592"/>
          </a:xfrm>
          <a:prstGeom prst="ellipse">
            <a:avLst/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426110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Cancellation 的顺序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65392" y="4645152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停完整进程树 → 释放 writer → 处理 Operation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再写 task-cancelled；Result 与取消原子竞争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16152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关闭 Work：机器收口 + 语义判断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CloseGuard 不替 Leader 判断业务是否值得结束；Leader 也不能绕过机器安全条件。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5010912" cy="3438144"/>
          </a:xfrm>
          <a:prstGeom prst="roundRect">
            <a:avLst>
              <a:gd name="adj" fmla="val 2128"/>
            </a:avLst>
          </a:prstGeom>
          <a:solidFill>
            <a:srgbClr val="162B43"/>
          </a:solidFill>
          <a:ln w="12700">
            <a:solidFill>
              <a:srgbClr val="2F4A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94560"/>
            <a:ext cx="4462272" cy="310896"/>
          </a:xfrm>
          <a:prstGeom prst="roundRect">
            <a:avLst>
              <a:gd name="adj" fmla="val 23529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1284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CloseGuard · 机器事实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2834640"/>
            <a:ext cx="182880" cy="18288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5292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26464" y="2816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Task 有 Result 或 cancellation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78992" y="3273552"/>
            <a:ext cx="182880" cy="18288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2918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26464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 active turn / process / writer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78992" y="3712464"/>
            <a:ext cx="182880" cy="18288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26464" y="3694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 都是 known terminal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78992" y="4151376"/>
            <a:ext cx="182880" cy="18288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696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26464" y="4133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 pending Approval / recovery path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78992" y="4590288"/>
            <a:ext cx="182880" cy="182880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608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26464" y="4572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deliverable 引用仍可解析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73952" y="1920240"/>
            <a:ext cx="4974336" cy="3438144"/>
          </a:xfrm>
          <a:prstGeom prst="roundRect">
            <a:avLst>
              <a:gd name="adj" fmla="val 2128"/>
            </a:avLst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2194560"/>
            <a:ext cx="4425696" cy="310896"/>
          </a:xfrm>
          <a:prstGeom prst="roundRect">
            <a:avLst>
              <a:gd name="adj" fmla="val 235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Leader · 语义决定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2798064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WorkSpec、Result、ToolResult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 Operation facts 判断：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77456" y="3694176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37033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complete-work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14816" y="3694176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87968" y="37033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stop-work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43342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当前目标已满足？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或决定不再继续？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5840" y="5596128"/>
            <a:ext cx="10131552" cy="457200"/>
          </a:xfrm>
          <a:prstGeom prst="roundRect">
            <a:avLst>
              <a:gd name="adj" fmla="val 16000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5296" y="5724144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uncertain / recovery-needed 会阻止 complete，也阻止 stop。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344168" cy="274320"/>
          </a:xfrm>
          <a:prstGeom prst="roundRect">
            <a:avLst>
              <a:gd name="adj" fmla="val 26667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661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TAKEAWAY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一张图看完整系统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目标设计的核心不是对象数量，而是每类事实都有自己的来源和边界。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TIANGONG  ·  可信团队控制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73968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B2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2953512"/>
            <a:ext cx="1316736" cy="1316736"/>
          </a:xfrm>
          <a:prstGeom prst="ellipse">
            <a:avLst/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33375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3666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timeline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70432" y="248716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43B5E6"/>
          </a:solidFill>
          <a:ln w="12700">
            <a:solidFill>
              <a:srgbClr val="43B5E6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26151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message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157276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7007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WorkSpec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1810512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01584" y="1938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委托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57232" y="340156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0B39F"/>
          </a:solidFill>
          <a:ln w="12700">
            <a:solidFill>
              <a:srgbClr val="00B39F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57232" y="3529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01584" y="4718304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85B5B"/>
          </a:solidFill>
          <a:ln w="12700">
            <a:solidFill>
              <a:srgbClr val="E85B5B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01584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外部效果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4718304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3263D"/>
          </a:solidFill>
          <a:ln w="12700">
            <a:solidFill>
              <a:srgbClr val="13263D"/>
            </a:solidFill>
            <a:prstDash val="solid"/>
          </a:ln>
          <a:effectLst>
            <a:outerShdw sx="100000" sy="100000" kx="0" ky="0" algn="bl" rotWithShape="0" blurRad="63500" dist="25400" dir="8100000">
              <a:srgbClr val="07101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94760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CloseGuard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安全收口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16352" y="2816352"/>
            <a:ext cx="2578608" cy="438912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797296" y="2962656"/>
            <a:ext cx="-356616" cy="-1024128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48272" y="3611880"/>
            <a:ext cx="3108960" cy="118872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65392" y="4261104"/>
            <a:ext cx="1536192" cy="731520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48656" y="4279392"/>
            <a:ext cx="-630936" cy="438912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48656" y="2194560"/>
            <a:ext cx="-640080" cy="0"/>
          </a:xfrm>
          <a:prstGeom prst="line">
            <a:avLst/>
          </a:prstGeom>
          <a:noFill/>
          <a:ln w="19050">
            <a:solidFill>
              <a:srgbClr val="6D8AA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1520" y="5468112"/>
            <a:ext cx="10716768" cy="475488"/>
          </a:xfrm>
          <a:prstGeom prst="roundRect">
            <a:avLst>
              <a:gd name="adj" fmla="val 15385"/>
            </a:avLst>
          </a:prstGeom>
          <a:solidFill>
            <a:srgbClr val="13263D"/>
          </a:solidFill>
          <a:ln w="12700">
            <a:solidFill>
              <a:srgbClr val="2F4A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60527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39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四个不能混淆：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48840" y="56052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 / 能力 / 观察 / 外部效果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58384" y="5605272"/>
            <a:ext cx="5358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DE7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让 Leader 判断，让代码硬控，让 Adapter 对账。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614476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正式设计：docs/design/evidence-backed-team-control.md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Tiangong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Tiangong 可信团队控制：从一条需求走到安全交付</dc:title>
  <dc:subject>Tiangong 可信团队控制教程</dc:subject>
  <dc:creator>Tiangong</dc:creator>
  <cp:lastModifiedBy>Tiangong</cp:lastModifiedBy>
  <cp:revision>1</cp:revision>
  <dcterms:created xsi:type="dcterms:W3CDTF">2026-08-10T05:19:56Z</dcterms:created>
  <dcterms:modified xsi:type="dcterms:W3CDTF">2026-08-10T05:19:56Z</dcterms:modified>
</cp:coreProperties>
</file>